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ar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84" d="100"/>
          <a:sy n="84" d="100"/>
        </p:scale>
        <p:origin x="641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EC0D13F-818D-9D47-DB13-E338D5CC48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F21A989-005A-8682-186D-79D22D5C08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1DE1173-0B70-5C4E-A868-BF2869686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0E493-6F6E-4E76-9572-58DFBD3BDE88}" type="datetimeFigureOut">
              <a:rPr lang="ar-EG" smtClean="0"/>
              <a:t>10/06/1447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9BCFD10-EBA0-5BF5-ACA1-B39261997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9C65502-A858-241E-2950-ABCE35AB6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B079-ED09-4E6E-8426-4A2B7A190D0D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076108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04E2930-FC62-ED17-9446-417248CD7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D1E2CC6-FC28-8733-3046-CA1C92EC9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29626A7-87DC-51CF-717B-ACDBFF587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0E493-6F6E-4E76-9572-58DFBD3BDE88}" type="datetimeFigureOut">
              <a:rPr lang="ar-EG" smtClean="0"/>
              <a:t>10/06/1447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A1842CD-BBB3-23B5-A02D-972873284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8346760-DF29-7D25-7031-7892442B7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B079-ED09-4E6E-8426-4A2B7A190D0D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821513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6E406D-F4EE-EC87-D49C-2937FDEF5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BE0A143-604F-82B7-A143-49D630E43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D381375-0129-D280-C2BB-A3C0FFE45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0E493-6F6E-4E76-9572-58DFBD3BDE88}" type="datetimeFigureOut">
              <a:rPr lang="ar-EG" smtClean="0"/>
              <a:t>10/06/1447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E3A19FB-933A-F5EB-36D3-E85798D5F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C23373B-2E33-C2AB-277A-56C6940B3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B079-ED09-4E6E-8426-4A2B7A190D0D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28542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19B7847-0E4E-8F88-8286-397B9E8E6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DF9585B-FBD1-1EBB-F546-3D8F33CD49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DCA9EAB-BD9C-B26B-26E1-55E3726F8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54E6321-ECD7-64FB-2472-6A022CD9F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0E493-6F6E-4E76-9572-58DFBD3BDE88}" type="datetimeFigureOut">
              <a:rPr lang="ar-EG" smtClean="0"/>
              <a:t>10/06/1447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974439F-5194-47D4-F731-C9515AAB0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F5E069B-F027-0AA0-FB9B-5378B0BF5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B079-ED09-4E6E-8426-4A2B7A190D0D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787441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5AB8C3C-6ABE-4F90-7860-0E5598829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981C47C-FA54-7E1F-123C-541693F6F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336B61BD-2A9F-8E3B-0BB1-63D309690B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E4EEB8E8-52E9-6299-A861-E9CFB52AD0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FFAD2BFB-2185-08E0-AADD-0A67970155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51698943-DB95-7F60-7655-55E579C1F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0E493-6F6E-4E76-9572-58DFBD3BDE88}" type="datetimeFigureOut">
              <a:rPr lang="ar-EG" smtClean="0"/>
              <a:t>10/06/1447</a:t>
            </a:fld>
            <a:endParaRPr lang="ar-E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C015FD0-A68A-250B-5D0B-CD6F0BCEC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7448E63C-3370-DA26-8C3A-5ACB46A90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B079-ED09-4E6E-8426-4A2B7A190D0D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12306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310F8FF-44C1-37D7-5FE2-973364EA5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7BD11094-19C9-EB4A-167C-0A8504DE5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0E493-6F6E-4E76-9572-58DFBD3BDE88}" type="datetimeFigureOut">
              <a:rPr lang="ar-EG" smtClean="0"/>
              <a:t>10/06/1447</a:t>
            </a:fld>
            <a:endParaRPr lang="ar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8A104BA9-C20E-FD30-B4F3-DC9AABC9E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8242692-84EE-9639-81A7-191E425BB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B079-ED09-4E6E-8426-4A2B7A190D0D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446389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51B06D9-B69D-D48C-EE3D-ECE07FCD0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0E493-6F6E-4E76-9572-58DFBD3BDE88}" type="datetimeFigureOut">
              <a:rPr lang="ar-EG" smtClean="0"/>
              <a:t>10/06/1447</a:t>
            </a:fld>
            <a:endParaRPr lang="ar-E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3670A59E-6829-0EA2-8BC6-D1E91734C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4791FDE-EC6E-3E97-02FB-D29677133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B079-ED09-4E6E-8426-4A2B7A190D0D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811153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9EFB8DC-FB71-0555-4C35-F82CCF5D0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2D88E60-1BA7-BC97-533D-D7B8E0FB8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D2D5704-B1A0-CE91-16DA-7C4CF80511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9F0976A-F6FC-AE27-1927-863F286B0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0E493-6F6E-4E76-9572-58DFBD3BDE88}" type="datetimeFigureOut">
              <a:rPr lang="ar-EG" smtClean="0"/>
              <a:t>10/06/1447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7C03EA9-6923-DDFD-A282-789F101F6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33C8397-EABB-E62D-80FC-483A68A5C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B079-ED09-4E6E-8426-4A2B7A190D0D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85154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39F0113-D487-C538-4AF0-D68D9BD28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269577BC-F9E2-0924-F97D-B128A63234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C9F1383-D54E-FF31-BE0A-EAF502084F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D173908-7F56-160B-45A7-AA7B84496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0E493-6F6E-4E76-9572-58DFBD3BDE88}" type="datetimeFigureOut">
              <a:rPr lang="ar-EG" smtClean="0"/>
              <a:t>10/06/1447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1BEB340-717F-C55C-9537-62E67EAF4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15E14FD-726B-449D-8990-5607CCAA9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B079-ED09-4E6E-8426-4A2B7A190D0D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234655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CB4BFDF-211A-67E6-DA71-99DE21728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FB331DA-C5CD-5F9B-2A9A-09217B9B0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46A5BB5-8C76-1414-E7DF-62E461860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0E493-6F6E-4E76-9572-58DFBD3BDE88}" type="datetimeFigureOut">
              <a:rPr lang="ar-EG" smtClean="0"/>
              <a:t>10/06/1447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C8631AD-0334-84FB-DB6F-741DD0EBA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D9FFCA4-55A4-671C-0B98-9EA97BF08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B079-ED09-4E6E-8426-4A2B7A190D0D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935779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3151A224-D755-CA5F-B87C-148BEEC02C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AEC4B55A-64B0-A809-DB71-9DE65BC4D1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50FAB6F-2984-66C7-2B27-000B7DB26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0E493-6F6E-4E76-9572-58DFBD3BDE88}" type="datetimeFigureOut">
              <a:rPr lang="ar-EG" smtClean="0"/>
              <a:t>10/06/1447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EAF480E-698B-DD25-C6B2-86075AA75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2925566-69CA-18F8-2AA2-7511B1A65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B079-ED09-4E6E-8426-4A2B7A190D0D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053908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72B21A7D-AFEB-5867-3E6D-3445D21DE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BA6B1DD-266C-D86B-8C38-F8D75705D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3F62D9E-5BFD-E9FE-CF2F-F6A8C06532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30E493-6F6E-4E76-9572-58DFBD3BDE88}" type="datetimeFigureOut">
              <a:rPr lang="ar-EG" smtClean="0"/>
              <a:t>10/06/1447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5636885-6B33-F58F-80C2-D456B552ED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11809B4-C1FD-2E8F-4D9C-01B6E9F0B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E5B079-ED09-4E6E-8426-4A2B7A190D0D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64962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D7DAD32-A315-A6FC-0FAC-01C08CEFAC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Telco Customer Churn Prediction</a:t>
            </a:r>
            <a:endParaRPr lang="ar-E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8D59622-A1C3-8062-ECAF-FA52EE4072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Machine Learning Approach to Customer Retention. Using Advanced ML Models to Predict and Prevent Customer Churn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3528672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C373F4E-6BFA-A82F-406E-3AB5BCEF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ar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B2C4CEA-B347-2D77-4BA3-672F072CC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cs typeface="+mj-cs"/>
              </a:rPr>
              <a:t>Challenge:</a:t>
            </a:r>
            <a:r>
              <a:rPr lang="en-US" dirty="0">
                <a:cs typeface="+mj-cs"/>
              </a:rPr>
              <a:t> Telecommunications companies face significant revenue loss due to customer churn. Identifying at-risk customers early enables proactive retention strategies.</a:t>
            </a:r>
          </a:p>
          <a:p>
            <a:r>
              <a:rPr lang="en-US" b="1" dirty="0">
                <a:cs typeface="+mj-cs"/>
              </a:rPr>
              <a:t>Business Impact:</a:t>
            </a:r>
            <a:endParaRPr lang="en-US" dirty="0">
              <a:cs typeface="+mj-c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cs typeface="+mj-cs"/>
              </a:rPr>
              <a:t>Acquiring new customers costs 5-25x more than retaining existing ones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cs typeface="+mj-cs"/>
              </a:rPr>
              <a:t>High churn rates directly impact revenue and profitability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cs typeface="+mj-cs"/>
              </a:rPr>
              <a:t>Understanding churn patterns enables targeted interventions</a:t>
            </a:r>
          </a:p>
          <a:p>
            <a:r>
              <a:rPr lang="en-US" b="1" dirty="0">
                <a:cs typeface="+mj-cs"/>
              </a:rPr>
              <a:t>Objective:</a:t>
            </a:r>
            <a:r>
              <a:rPr lang="en-US" dirty="0">
                <a:cs typeface="+mj-cs"/>
              </a:rPr>
              <a:t> Build a machine learning model to accurately predict customer churn and identify key factors driving customer attrition.</a:t>
            </a:r>
          </a:p>
          <a:p>
            <a:endParaRPr lang="ar-EG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89794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381EF8-581D-F350-223F-063D4F4A1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</a:t>
            </a:r>
            <a:endParaRPr lang="ar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FD4A423-E15C-3F00-C132-7E507F23F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Dataset Statistics: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Total Customers: 10,348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Features (After Preprocessing): 25</a:t>
            </a:r>
          </a:p>
          <a:p>
            <a:r>
              <a:rPr lang="en-US" b="1" dirty="0"/>
              <a:t>Data Split: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Training Samples: 8,278 (80%)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Test Samples: 2,070 (20%)</a:t>
            </a:r>
          </a:p>
          <a:p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3713081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45F174-3762-8EB1-366B-AF8C7C0E8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  <a:endParaRPr lang="ar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C49F37A-8F73-35FF-ECA7-4AD29372C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 Preprocessing: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Handled missing values and data types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One-hot encoding for categorical variables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MinMax</a:t>
            </a:r>
            <a:r>
              <a:rPr lang="en-US" dirty="0"/>
              <a:t> scaling for numerical features (tenure, monthly charges)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Upsampling</a:t>
            </a:r>
            <a:r>
              <a:rPr lang="en-US" dirty="0"/>
              <a:t> to balance classes (50-50 split)</a:t>
            </a:r>
          </a:p>
          <a:p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2990097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CD6797C-D8B6-086B-0E11-1A4667F98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MODELS</a:t>
            </a:r>
            <a:endParaRPr lang="ar-E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54D0F191-B5AD-4E67-D35F-4949DF0702C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xmlns="" val="12177859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xmlns="" val="214067317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xmlns="" val="361598575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xmlns="" val="39957774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xmlns="" val="4620277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CV 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93228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Gradient Boosting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EG"/>
                        <a:t>99.52%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EG"/>
                        <a:t>99.13%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EG"/>
                        <a:t>99.90%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EG"/>
                        <a:t>0.900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61354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Random Forest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EG"/>
                        <a:t>97.44%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EG"/>
                        <a:t>95.17%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EG"/>
                        <a:t>99.90%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EG"/>
                        <a:t>0.899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997317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XGBoost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EG"/>
                        <a:t>96.91%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EG"/>
                        <a:t>94.54%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EG"/>
                        <a:t>99.51%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EG"/>
                        <a:t>0.883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172309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SVM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EG"/>
                        <a:t>84.78%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EG"/>
                        <a:t>81.60%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EG"/>
                        <a:t>89.47%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EG"/>
                        <a:t>0.810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48667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Logistic Regression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EG"/>
                        <a:t>76.28%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EG"/>
                        <a:t>75.60%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EG"/>
                        <a:t>77.00%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EG" dirty="0"/>
                        <a:t>0.759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2610277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xmlns="" id="{8437AD1B-B927-ED82-5A75-CBEC51F144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12685"/>
            <a:ext cx="3672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EG" altLang="ar-E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Moel Performance Comparison:</a:t>
            </a:r>
            <a:endParaRPr kumimoji="0" lang="ar-EG" altLang="ar-E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BC2214D5-827B-E2EB-0037-44D66169014F}"/>
              </a:ext>
            </a:extLst>
          </p:cNvPr>
          <p:cNvSpPr txBox="1"/>
          <p:nvPr/>
        </p:nvSpPr>
        <p:spPr>
          <a:xfrm>
            <a:off x="1828800" y="55205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Note:</a:t>
            </a:r>
            <a:r>
              <a:rPr lang="en-US" dirty="0"/>
              <a:t> All models optimized using Grid Search Cross-Validation</a:t>
            </a:r>
          </a:p>
        </p:txBody>
      </p:sp>
    </p:spTree>
    <p:extLst>
      <p:ext uri="{BB962C8B-B14F-4D97-AF65-F5344CB8AC3E}">
        <p14:creationId xmlns:p14="http://schemas.microsoft.com/office/powerpoint/2010/main" val="1789613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8338130-F632-6C50-1849-2A7BF7DC7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MODEL - GRADIENT BOOSTING</a:t>
            </a:r>
            <a:endParaRPr lang="ar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6F049EE-A674-9E25-0C18-A12ADAB04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0991"/>
            <a:ext cx="10515600" cy="5128592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Key Performance Metrics: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Recall: 99.90% - Successfully identifies almost all churning customers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Precision: 99.13% - Minimizes false positives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Accuracy: 99.52% - Overall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AUC Score: 0.9995</a:t>
            </a:r>
          </a:p>
          <a:p>
            <a:r>
              <a:rPr lang="en-US" b="1" dirty="0"/>
              <a:t>Optimal Hyperparameters: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Learning Rate: 0.2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Max Depth: 7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Number of Estimators: 200</a:t>
            </a:r>
          </a:p>
          <a:p>
            <a:r>
              <a:rPr lang="en-US" b="1" dirty="0"/>
              <a:t>Why This Model Won:</a:t>
            </a:r>
            <a:r>
              <a:rPr lang="en-US" dirty="0"/>
              <a:t> Achieved the highest precision while maintaining exceptional recall, making it ideal for identifying at-risk customers with minimal false alarms.</a:t>
            </a:r>
          </a:p>
          <a:p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1692678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90BE71-0E3F-07D0-ED88-3EE084CC9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BUSINESS INSIGHTS</a:t>
            </a:r>
            <a:endParaRPr lang="ar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313AA8C-EF4C-E06F-B964-1E0B2B978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13714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1. Contract Type</a:t>
            </a:r>
            <a:r>
              <a:rPr lang="en-US" dirty="0"/>
              <a:t> Month-to-month contracts show significantly higher churn rates compared to yearly contracts</a:t>
            </a:r>
          </a:p>
          <a:p>
            <a:r>
              <a:rPr lang="en-US" b="1" dirty="0"/>
              <a:t>2. Tenure</a:t>
            </a:r>
            <a:r>
              <a:rPr lang="en-US" dirty="0"/>
              <a:t> Customers with shorter tenure (&lt;12 months) are at highest risk of churning</a:t>
            </a:r>
          </a:p>
          <a:p>
            <a:r>
              <a:rPr lang="en-US" b="1" dirty="0"/>
              <a:t>3. Internet Service</a:t>
            </a:r>
            <a:r>
              <a:rPr lang="en-US" dirty="0"/>
              <a:t> Fiber optic customers exhibit higher churn rates than DSL users</a:t>
            </a:r>
          </a:p>
          <a:p>
            <a:r>
              <a:rPr lang="en-US" b="1" dirty="0"/>
              <a:t>4. Additional Services</a:t>
            </a:r>
            <a:r>
              <a:rPr lang="en-US" dirty="0"/>
              <a:t> Lack of </a:t>
            </a:r>
            <a:r>
              <a:rPr lang="en-US" dirty="0" err="1"/>
              <a:t>OnlineSecurity</a:t>
            </a:r>
            <a:r>
              <a:rPr lang="en-US" dirty="0"/>
              <a:t> and </a:t>
            </a:r>
            <a:r>
              <a:rPr lang="en-US" dirty="0" err="1"/>
              <a:t>TechSupport</a:t>
            </a:r>
            <a:r>
              <a:rPr lang="en-US" dirty="0"/>
              <a:t> correlates with higher churn</a:t>
            </a:r>
          </a:p>
          <a:p>
            <a:r>
              <a:rPr lang="en-US" b="1" dirty="0"/>
              <a:t>5. Payment Method</a:t>
            </a:r>
            <a:r>
              <a:rPr lang="en-US" dirty="0"/>
              <a:t> Electronic check users show elevated churn risk compared to other payment methods</a:t>
            </a:r>
          </a:p>
          <a:p>
            <a:r>
              <a:rPr lang="en-US" b="1" dirty="0"/>
              <a:t>6. Monthly Charges</a:t>
            </a:r>
            <a:r>
              <a:rPr lang="en-US" dirty="0"/>
              <a:t> Higher monthly charges without value-added services increase churn probability</a:t>
            </a:r>
          </a:p>
          <a:p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442503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A9054F1-CA2C-5D38-1299-8266B9C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IMPORTANCE</a:t>
            </a:r>
            <a:endParaRPr lang="ar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DEB8EAE-BAEE-0C62-173C-7AA33E54F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19732"/>
          </a:xfrm>
        </p:spPr>
        <p:txBody>
          <a:bodyPr/>
          <a:lstStyle/>
          <a:p>
            <a:r>
              <a:rPr lang="en-US" b="1" dirty="0"/>
              <a:t>Most Important Factors (Gradient Boosting Model):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Tenure</a:t>
            </a:r>
            <a:r>
              <a:rPr lang="en-US" dirty="0"/>
              <a:t> - High Impact Customer duration is the strongest predictor of churn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Monthly Charges</a:t>
            </a:r>
            <a:r>
              <a:rPr lang="en-US" dirty="0"/>
              <a:t> - High Impact Pricing directly influences customer retention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Internet Service Type</a:t>
            </a:r>
            <a:r>
              <a:rPr lang="en-US" dirty="0"/>
              <a:t> - Medium Impact Service quality affects satisfaction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Online Security</a:t>
            </a:r>
            <a:r>
              <a:rPr lang="en-US" dirty="0"/>
              <a:t> - Medium Impact Security features improve retention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Tech Support</a:t>
            </a:r>
            <a:r>
              <a:rPr lang="en-US" dirty="0"/>
              <a:t> - Medium Impact Customer support availability matters</a:t>
            </a:r>
          </a:p>
          <a:p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3776565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985DBF4-8FE6-0D33-9998-8F5EB51EF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EVALUATION METHODS</a:t>
            </a:r>
            <a:endParaRPr lang="ar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F1EDFA7-3FAB-0D6A-5658-D38B3BB0A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60705"/>
          </a:xfrm>
        </p:spPr>
        <p:txBody>
          <a:bodyPr>
            <a:normAutofit/>
          </a:bodyPr>
          <a:lstStyle/>
          <a:p>
            <a:r>
              <a:rPr lang="en-US" b="1" dirty="0"/>
              <a:t>Evaluation Metrics Used: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Accuracy: Overall correctness of predictions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Precision: Proportion of positive predictions that are correct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Recall: Proportion of actual churners correctly identified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AUC-ROC: Model's ability to distinguish between classes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Cross-Validation Score: Model generalization capability</a:t>
            </a:r>
          </a:p>
          <a:p>
            <a:r>
              <a:rPr lang="en-US" b="1" dirty="0"/>
              <a:t>Why Recall Matters Most:</a:t>
            </a:r>
            <a:r>
              <a:rPr lang="en-US" dirty="0"/>
              <a:t> In churn prediction, missing a churner (false negative) is more costly than incorrectly flagging a loyal customer (false positive). High recall ensures we catch nearly all at-risk customers.</a:t>
            </a:r>
          </a:p>
          <a:p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1243879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B1635C-A106-AD6D-A42E-8B85DC12A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&amp; IMPLEMENTATION</a:t>
            </a:r>
            <a:endParaRPr lang="ar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717413E-BE14-B3FF-E4A8-217AAD9A1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Technical Stack: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ML Libraries: Scikit-learn, </a:t>
            </a:r>
            <a:r>
              <a:rPr lang="en-US" dirty="0" err="1"/>
              <a:t>XGBoost</a:t>
            </a:r>
            <a:r>
              <a:rPr lang="en-US" dirty="0"/>
              <a:t>, Pandas, NumPy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Visualization: Matplotlib, Seaborn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Deployment: </a:t>
            </a:r>
            <a:r>
              <a:rPr lang="en-US" dirty="0" err="1" smtClean="0"/>
              <a:t>Streamlit</a:t>
            </a:r>
            <a:r>
              <a:rPr lang="en-US" dirty="0" smtClean="0"/>
              <a:t> Web </a:t>
            </a:r>
            <a:r>
              <a:rPr lang="en-US" dirty="0"/>
              <a:t>Interface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 Persistence: Pickle files for trained models</a:t>
            </a:r>
          </a:p>
          <a:p>
            <a:r>
              <a:rPr lang="en-US" b="1" dirty="0"/>
              <a:t>Accessibility:</a:t>
            </a:r>
            <a:r>
              <a:rPr lang="en-US" dirty="0"/>
              <a:t> No coding required - business users can make predictions through intuitive web interface</a:t>
            </a:r>
          </a:p>
          <a:p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2745851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0C1208B-74C5-4700-7570-D79BDD76B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RECOMMENDATIONS</a:t>
            </a:r>
            <a:endParaRPr lang="ar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CE9B2FE-BB5C-B646-7158-A38347822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79975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1. Contract Incentives</a:t>
            </a:r>
            <a:r>
              <a:rPr lang="en-US" dirty="0"/>
              <a:t> Offer attractive discounts and benefits for annual/two-year contracts to reduce month-to-month churn</a:t>
            </a:r>
          </a:p>
          <a:p>
            <a:r>
              <a:rPr lang="en-US" b="1" dirty="0"/>
              <a:t>2. Early Engagement Programs</a:t>
            </a:r>
            <a:r>
              <a:rPr lang="en-US" dirty="0"/>
              <a:t> Focus retention efforts on customers within first 12 months through onboarding programs and dedicated support</a:t>
            </a:r>
          </a:p>
          <a:p>
            <a:r>
              <a:rPr lang="en-US" b="1" dirty="0"/>
              <a:t>3. Payment Method Optimization</a:t>
            </a:r>
            <a:r>
              <a:rPr lang="en-US" dirty="0"/>
              <a:t> Encourage customers to switch from electronic check to automated payment methods with incentives</a:t>
            </a:r>
          </a:p>
          <a:p>
            <a:r>
              <a:rPr lang="en-US" b="1" dirty="0"/>
              <a:t>4. Fiber Service Quality Improvement</a:t>
            </a:r>
            <a:r>
              <a:rPr lang="en-US" dirty="0"/>
              <a:t> Investigate and address quality concerns with fiber optic service delivery and customer satisfaction</a:t>
            </a:r>
          </a:p>
          <a:p>
            <a:r>
              <a:rPr lang="en-US" b="1" dirty="0"/>
              <a:t>5. Proactive Intervention System</a:t>
            </a:r>
            <a:r>
              <a:rPr lang="en-US" dirty="0"/>
              <a:t> Deploy model predictions to trigger retention campaigns before customers churn, enabling preventive action</a:t>
            </a:r>
          </a:p>
          <a:p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2974824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34B33F2-78F6-AF8B-275B-BDE4AA347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FUTURE WORK</a:t>
            </a:r>
            <a:endParaRPr lang="ar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EB729F6-24D2-468A-A956-72643DD71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Business Value:</a:t>
            </a:r>
            <a:r>
              <a:rPr lang="en-US" dirty="0"/>
              <a:t> The model enables proactive customer retention strategies, potentially saving significant revenue by identifying and intervening with at-risk customers before they churn.</a:t>
            </a:r>
          </a:p>
          <a:p>
            <a:endParaRPr lang="en-US" b="1" dirty="0"/>
          </a:p>
          <a:p>
            <a:r>
              <a:rPr lang="en-US" b="1" dirty="0"/>
              <a:t>Future Enhancements: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Integrate real-time customer behavior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Deploy automated model monitoring and retraining pipeline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Expand to multi-class churn prediction (why customers leave)</a:t>
            </a:r>
          </a:p>
          <a:p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1742732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737</Words>
  <Application>Microsoft Office PowerPoint</Application>
  <PresentationFormat>Widescreen</PresentationFormat>
  <Paragraphs>108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Telco Customer Churn Prediction</vt:lpstr>
      <vt:lpstr>PROBLEM STATEMENT</vt:lpstr>
      <vt:lpstr>DATASET OVERVIEW</vt:lpstr>
      <vt:lpstr>Data Preprocessing</vt:lpstr>
      <vt:lpstr>MACHINE LEARNING MODELS</vt:lpstr>
      <vt:lpstr>BEST MODEL - GRADIENT BOOSTING</vt:lpstr>
      <vt:lpstr>KEY BUSINESS INSIGHTS</vt:lpstr>
      <vt:lpstr>FEATURE IMPORTANCE</vt:lpstr>
      <vt:lpstr>MODEL EVALUATION METHODS</vt:lpstr>
      <vt:lpstr>DEPLOYMENT &amp; IMPLEMENTATION</vt:lpstr>
      <vt:lpstr>BUSINESS RECOMMENDATIONS</vt:lpstr>
      <vt:lpstr>CONCLUSION &amp; FUTURE WORK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Telco Customer Churn Prediction</dc:title>
  <dc:creator>Mohamed</dc:creator>
  <cp:lastModifiedBy>FLASH</cp:lastModifiedBy>
  <cp:revision>2</cp:revision>
  <dcterms:created xsi:type="dcterms:W3CDTF">2025-11-30T16:33:19Z</dcterms:created>
  <dcterms:modified xsi:type="dcterms:W3CDTF">2025-11-30T18:19:46Z</dcterms:modified>
</cp:coreProperties>
</file>